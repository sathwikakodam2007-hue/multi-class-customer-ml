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e409cf7-ab3e-e538-699f-11f34d887229}">
          <p14:sldIdLst>
            <p14:sldId id="256"/>
            <p14:sldId id="257"/>
            <p14:sldId id="258"/>
            <p14:sldId id="259"/>
            <p14:sldId id="260"/>
          </p14:sldIdLst>
        </p14:section>
        <p14:section name="Solution &amp; Design" id="{318b3970-ce2f-f724-6c76-feb5e0d4f1f6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ild &amp; Results" id="{8fcbd08b-c84c-1faa-ade1-e0cf8c4b90f0}">
          <p14:sldIdLst>
            <p14:sldId id="267"/>
            <p14:sldId id="268"/>
            <p14:sldId id="269"/>
            <p14:sldId id="270"/>
            <p14:sldId id="271"/>
          </p14:sldIdLst>
        </p14:section>
        <p14:section name="Wrap-up" id="{30775f26-788e-a729-1b5e-34f86583a742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Comparison with other methods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Multinomial LR</c:v>
                  </c:pt>
                  <c:pt idx="1">
                    <c:v>KNN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83.7</c:v>
                </c:pt>
                <c:pt idx="1">
                  <c:v>78</c:v>
                </c:pt>
                <c:pt idx="2">
                  <c:v>76.1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Multinomial LR</c:v>
                  </c:pt>
                  <c:pt idx="1">
                    <c:v>KNN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83.6</c:v>
                </c:pt>
                <c:pt idx="1">
                  <c:v>77.3</c:v>
                </c:pt>
                <c:pt idx="2">
                  <c:v>76.2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1B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the team (K. Sathwika and A. Sanjana Reddy), the guide (Dr. Lakshmi Prasanna Yeluri) and the four customer categories the model predicts.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E-commerce customers behave differently. Grouping them into categories enables personalisation. Multinomial logistic regression is a supervised multi-class method that outputs a probability per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must be placed into one of several categories, but manual analysis and binary classification fall short. Both businesses and customers are 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categorisation is a practical, high-impact ML task and interpretable models are preferred in business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is to build a multinomial logistic regression model that predicts customer category. Five specific objectives support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approaches rely on manual grouping, rules and binary classifiers, which are slow and cannot predict many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system preprocesses data automatically and uses one multinomial logistic regression model to predict the most probable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from the customer CSV through preprocessing and the multinomial model to the predicted category and evaluation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Nine-step pipeline: Data, Preprocess, Split, Train, Evaluate, Save model, Predict.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scikit-learn for modelling, Flask for the backend, and a simple HTML/CSS/JavaScript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modules from the user interface to input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steps: load data, preprocess inside a pipeline, split, train, evaluate, save and serve through Flask. Solver lbfgs fits a true multinomial (softmax) model for more than two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5,000 synthetic customer records with 13 columns and four categories; about 2 percent of some values were left missing to demonstrate imputation.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Multinomial logistic regression computes a linear score per class, applies softmax to get probabilities and picks the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accuracy 83.7 percent. Per-class F1: Premium 0.93, Budget 0.87, Regular 0.67, Occasional 0.69. The model outperforms the Decision Tree (76.1 percent) and KNN (78.0 percent) baselines on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application screens: prediction with probabilities, batch CSV upload, model dashboard, dataset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strengths of the proposed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in marketing, CRM and sales planning across several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limitations: linear assumption, data dependence (results come from synthetic data), non-linear patterns and need for labelled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 models, richer features and cloud deployment are the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model built, interpretable and effective with 83.7 percent accuracy, supports data-driven marketing.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1B4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Multi-Class Customer Category Prediction  |  CS&amp;IT  |  A.Y. 2026-27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Multi-Class Customer Category Prediction  |  CS&amp;IT  |  A.Y. 2026-27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5577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" name="Decor"/>
          <p:cNvSpPr/>
          <p:nvPr/>
        </p:nvSpPr>
        <p:spPr>
          <a:xfrm>
            <a:off x="7315200" y="3017520"/>
            <a:ext cx="2926080" cy="2926080"/>
          </a:xfrm>
          <a:prstGeom prst="ellipse">
            <a:avLst/>
          </a:prstGeom>
          <a:solidFill>
            <a:schemeClr val="accent3">
              <a:alpha val="2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</a:rPr>
              <a:t>MACHINE LEARNING PROJECT   |   B.TECH   |   A.Y. 2026-27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8686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Multi-Class Customer Category Prediction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Multinomial Logistic Regression</a:t>
            </a:r>
            <a:endParaRPr lang="en-US" sz="2200" dirty="0"/>
          </a:p>
        </p:txBody>
      </p:sp>
      <p:sp>
        <p:nvSpPr>
          <p:cNvPr id="7" name="IconCircle"/>
          <p:cNvSpPr/>
          <p:nvPr/>
        </p:nvSpPr>
        <p:spPr>
          <a:xfrm>
            <a:off x="548640" y="2779776"/>
            <a:ext cx="457200" cy="45720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8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903220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7432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5B4FC"/>
                </a:solidFill>
              </a:rPr>
              <a:t>TEAM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Sathwika  -  2520090210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A. Sanjana Reddy  -  2520090159</a:t>
            </a:r>
            <a:endParaRPr lang="en-US" sz="1400" dirty="0"/>
          </a:p>
        </p:txBody>
      </p:sp>
      <p:sp>
        <p:nvSpPr>
          <p:cNvPr id="11" name="IconCircle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UserTi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357987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34198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5B4FC"/>
                </a:solidFill>
              </a:rPr>
              <a:t>GUIDE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36027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Dr. Lakshmi Prasanna Yeluri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Asst. Professor, Professor-in-charge</a:t>
            </a:r>
            <a:endParaRPr lang="en-US" sz="1400" dirty="0"/>
          </a:p>
        </p:txBody>
      </p:sp>
      <p:sp>
        <p:nvSpPr>
          <p:cNvPr id="15" name="IconCircle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6" name="Image 2" descr="Build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425653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40965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5B4FC"/>
                </a:solidFill>
              </a:rPr>
              <a:t>DEPARTMENT / SECTION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Dept. of CS&amp;IT   |   Section: [Add section]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[Add college / university name]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5B4FC"/>
                </a:solidFill>
              </a:rPr>
              <a:t>4 CUSTOMER CATEGORIES</a:t>
            </a:r>
            <a:endParaRPr lang="en-US" sz="1000" dirty="0"/>
          </a:p>
        </p:txBody>
      </p:sp>
      <p:sp>
        <p:nvSpPr>
          <p:cNvPr id="20" name="CategoryPill"/>
          <p:cNvSpPr txBox="1"/>
          <p:nvPr/>
        </p:nvSpPr>
        <p:spPr>
          <a:xfrm>
            <a:off x="6400800" y="1463040"/>
            <a:ext cx="2286000" cy="5486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Premium</a:t>
            </a:r>
            <a:endParaRPr lang="en-US" sz="1800" dirty="0"/>
          </a:p>
        </p:txBody>
      </p:sp>
      <p:sp>
        <p:nvSpPr>
          <p:cNvPr id="21" name="CategoryPill"/>
          <p:cNvSpPr txBox="1"/>
          <p:nvPr/>
        </p:nvSpPr>
        <p:spPr>
          <a:xfrm>
            <a:off x="6400800" y="2176272"/>
            <a:ext cx="2286000" cy="548640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Regular</a:t>
            </a:r>
            <a:endParaRPr lang="en-US" sz="1800" dirty="0"/>
          </a:p>
        </p:txBody>
      </p:sp>
      <p:sp>
        <p:nvSpPr>
          <p:cNvPr id="22" name="CategoryPill"/>
          <p:cNvSpPr txBox="1"/>
          <p:nvPr/>
        </p:nvSpPr>
        <p:spPr>
          <a:xfrm>
            <a:off x="6400800" y="2889504"/>
            <a:ext cx="2286000" cy="548640"/>
          </a:xfrm>
          <a:prstGeom prst="roundRect">
            <a:avLst>
              <a:gd name="adj" fmla="val 41667"/>
            </a:avLst>
          </a:prstGeom>
          <a:solidFill>
            <a:schemeClr val="accent4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Budget</a:t>
            </a:r>
            <a:endParaRPr lang="en-US" sz="1800" dirty="0"/>
          </a:p>
        </p:txBody>
      </p:sp>
      <p:sp>
        <p:nvSpPr>
          <p:cNvPr id="23" name="CategoryPill"/>
          <p:cNvSpPr txBox="1"/>
          <p:nvPr/>
        </p:nvSpPr>
        <p:spPr>
          <a:xfrm>
            <a:off x="6400800" y="3602736"/>
            <a:ext cx="2286000" cy="548640"/>
          </a:xfrm>
          <a:prstGeom prst="roundRect">
            <a:avLst>
              <a:gd name="adj" fmla="val 41667"/>
            </a:avLst>
          </a:prstGeom>
          <a:solidFill>
            <a:schemeClr val="accent5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Occasional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ShoppingC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59014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Customers differ in age, income, purchase frequency and spending habits.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Grouping them into categories drives personalised marketing.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3474720" y="1417320"/>
            <a:ext cx="640080" cy="64008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59014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overview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Machine Learning: supervised multi-class classification.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Multinomial Logistic Regression gives a probability for every category.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263640" y="1417320"/>
            <a:ext cx="640080" cy="64008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Bullsey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62" y="159014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methods and binary classifiers cannot handle many categories.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automated, interpretable model enables targeted campaigns.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840480" cy="3429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63586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6974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Customers must be assigned to one of several categories, but traditional methods rely on manual analysis or simple binary classification.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480560" y="1188720"/>
            <a:ext cx="4206240" cy="18288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70916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/ challenges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16916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segmentation is slow, subjective, not scalable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Binary methods cannot represent many classes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data: missing values, mixed scales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480560" y="3154680"/>
            <a:ext cx="4206240" cy="146304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70916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657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Businesses: poor targeting, wasted budget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Customers: irrelevant offers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Motivation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5654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188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3657600" y="1188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categorisation is a practical, high-impact use of ML, and multinomial logistic regression is a clear, interpretable method for it.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Sto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3" y="2708453"/>
            <a:ext cx="252374" cy="25237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331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need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65760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retailers must identify customer types quickly to personalise offers, recommendations and services.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385145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474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motivation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3657600" y="3474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Segmentation and personalisation raise sales and satisfaction; interpretable models explain why a customer was placed in a category.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7826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</a:rPr>
              <a:t>MAIN OBJECTIVE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a multinomial logistic regression model that accurately predicts a customer's category from demographic, purchasing and transaction data.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57200" y="2423160"/>
            <a:ext cx="1499616" cy="219456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ber"/>
          <p:cNvSpPr txBox="1"/>
          <p:nvPr/>
        </p:nvSpPr>
        <p:spPr>
          <a:xfrm>
            <a:off x="978408" y="256032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and prepare data (clean, encode, scale)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2139696" y="2423160"/>
            <a:ext cx="1499616" cy="219456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ber"/>
          <p:cNvSpPr txBox="1"/>
          <p:nvPr/>
        </p:nvSpPr>
        <p:spPr>
          <a:xfrm>
            <a:off x="2660904" y="25603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31546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a multinomial logistic regression model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822192" y="2423160"/>
            <a:ext cx="1499616" cy="219456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ber"/>
          <p:cNvSpPr txBox="1"/>
          <p:nvPr/>
        </p:nvSpPr>
        <p:spPr>
          <a:xfrm>
            <a:off x="4343400" y="256032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31546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Evaluate: accuracy, precision, recall, F1, matrix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504688" y="2423160"/>
            <a:ext cx="1499616" cy="219456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Number"/>
          <p:cNvSpPr txBox="1"/>
          <p:nvPr/>
        </p:nvSpPr>
        <p:spPr>
          <a:xfrm>
            <a:off x="6025896" y="256032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614416" y="31546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features that influence each category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187184" y="2423160"/>
            <a:ext cx="1499616" cy="219456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Number"/>
          <p:cNvSpPr txBox="1"/>
          <p:nvPr/>
        </p:nvSpPr>
        <p:spPr>
          <a:xfrm>
            <a:off x="7708392" y="256032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96912" y="31546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the model with Joblib and serve predictions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Existing System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</a:rPr>
              <a:t>WHAT EXISTS TODAY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WHERE IT FALLS SHORT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457200" y="1417320"/>
            <a:ext cx="402336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approach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analysis, fixed business rules or simple binary classification.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" y="3044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technologies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Spreadsheets, rule-based filters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Binary logistic regression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statistical reports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417320"/>
            <a:ext cx="40233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Circle"/>
          <p:cNvSpPr/>
          <p:nvPr/>
        </p:nvSpPr>
        <p:spPr>
          <a:xfrm>
            <a:off x="4846320" y="1673352"/>
            <a:ext cx="502920" cy="502920"/>
          </a:xfrm>
          <a:prstGeom prst="ellipse">
            <a:avLst/>
          </a:prstGeom>
          <a:solidFill>
            <a:schemeClr val="accent5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5" name="Image 0" descr="Times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2108" y="1809140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3212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Cannot predict more than two categories directly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663440" y="2514600"/>
            <a:ext cx="40233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Circle"/>
          <p:cNvSpPr/>
          <p:nvPr/>
        </p:nvSpPr>
        <p:spPr>
          <a:xfrm>
            <a:off x="4846320" y="2770632"/>
            <a:ext cx="502920" cy="502920"/>
          </a:xfrm>
          <a:prstGeom prst="ellipse">
            <a:avLst/>
          </a:prstGeom>
          <a:solidFill>
            <a:schemeClr val="accent5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9" name="Image 1" descr="Times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108" y="2906420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3212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Time-consuming, subjective, hard to scale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4663440" y="3611880"/>
            <a:ext cx="40233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Circle"/>
          <p:cNvSpPr/>
          <p:nvPr/>
        </p:nvSpPr>
        <p:spPr>
          <a:xfrm>
            <a:off x="4846320" y="3867912"/>
            <a:ext cx="502920" cy="502920"/>
          </a:xfrm>
          <a:prstGeom prst="ellipse">
            <a:avLst/>
          </a:prstGeom>
          <a:solidFill>
            <a:schemeClr val="accent5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3" name="Image 2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108" y="4003700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3611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automated preprocessing, weak personalisation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Proposed System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291840" cy="3429000"/>
          </a:xfrm>
          <a:prstGeom prst="roundRect">
            <a:avLst>
              <a:gd name="adj" fmla="val 25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63586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697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machine learning system that preprocesses customer data and uses multinomial logistic regression to predict the most probable customer category.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931920" y="1188720"/>
            <a:ext cx="4754880" cy="77724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4114800" y="1371600"/>
            <a:ext cx="411480" cy="41148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00" y="1482700"/>
            <a:ext cx="189281" cy="18928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9160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Multi-class in one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Outputs a probability for every category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931920" y="2075688"/>
            <a:ext cx="4754880" cy="77724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Circle"/>
          <p:cNvSpPr/>
          <p:nvPr/>
        </p:nvSpPr>
        <p:spPr>
          <a:xfrm>
            <a:off x="4114800" y="2258568"/>
            <a:ext cx="411480" cy="41148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6" name="Image 2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900" y="2369668"/>
            <a:ext cx="189281" cy="18928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09160" y="20756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Automated preprocessing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Cleaning, imputing, encoding, scaling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931920" y="2962656"/>
            <a:ext cx="4754880" cy="77724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Circle"/>
          <p:cNvSpPr/>
          <p:nvPr/>
        </p:nvSpPr>
        <p:spPr>
          <a:xfrm>
            <a:off x="4114800" y="3145536"/>
            <a:ext cx="411480" cy="41148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0" name="Image 3" descr="Check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900" y="3256636"/>
            <a:ext cx="189281" cy="18928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709160" y="29626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 and interpretable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Feature coefficients explain each category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3931920" y="3849624"/>
            <a:ext cx="4754880" cy="77724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Circle"/>
          <p:cNvSpPr/>
          <p:nvPr/>
        </p:nvSpPr>
        <p:spPr>
          <a:xfrm>
            <a:off x="4114800" y="4032504"/>
            <a:ext cx="411480" cy="41148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4" name="Image 4" descr="Check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900" y="4143604"/>
            <a:ext cx="189281" cy="18928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09160" y="38496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Business ready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Data-driven categories for targeted marketing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System Architecture / Block Diagram</a:t>
            </a:r>
            <a:endParaRPr lang="en-US" sz="2800" dirty="0"/>
          </a:p>
        </p:txBody>
      </p:sp>
      <p:sp>
        <p:nvSpPr>
          <p:cNvPr id="5" name="ArchBox"/>
          <p:cNvSpPr txBox="1"/>
          <p:nvPr/>
        </p:nvSpPr>
        <p:spPr>
          <a:xfrm>
            <a:off x="457200" y="1234440"/>
            <a:ext cx="1874520" cy="777240"/>
          </a:xfrm>
          <a:prstGeom prst="roundRect">
            <a:avLst>
              <a:gd name="adj" fmla="val 10588"/>
            </a:avLst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57200" y="2194560"/>
            <a:ext cx="1874520" cy="210312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" y="23317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CSV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Age, gender, income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Frequency, spend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Preferences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350008" y="1463040"/>
            <a:ext cx="210312" cy="32004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9" name="ArchBox"/>
          <p:cNvSpPr txBox="1"/>
          <p:nvPr/>
        </p:nvSpPr>
        <p:spPr>
          <a:xfrm>
            <a:off x="2578608" y="1234440"/>
            <a:ext cx="1874520" cy="777240"/>
          </a:xfrm>
          <a:prstGeom prst="roundRect">
            <a:avLst>
              <a:gd name="adj" fmla="val 10588"/>
            </a:avLst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2578608" y="2194560"/>
            <a:ext cx="1874520" cy="210312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715768" y="23317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values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Train/test split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4471416" y="1463040"/>
            <a:ext cx="210312" cy="32004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3" name="ArchBox"/>
          <p:cNvSpPr txBox="1"/>
          <p:nvPr/>
        </p:nvSpPr>
        <p:spPr>
          <a:xfrm>
            <a:off x="4700016" y="1234440"/>
            <a:ext cx="1874520" cy="777240"/>
          </a:xfrm>
          <a:prstGeom prst="roundRect">
            <a:avLst>
              <a:gd name="adj" fmla="val 10588"/>
            </a:avLst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4700016" y="2194560"/>
            <a:ext cx="1874520" cy="210312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37176" y="23317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Multinomial Logistic Regression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Softmax over 4 classes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6592824" y="1463040"/>
            <a:ext cx="210312" cy="32004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7" name="ArchBox"/>
          <p:cNvSpPr txBox="1"/>
          <p:nvPr/>
        </p:nvSpPr>
        <p:spPr>
          <a:xfrm>
            <a:off x="6821424" y="1234440"/>
            <a:ext cx="1874520" cy="777240"/>
          </a:xfrm>
          <a:prstGeom prst="roundRect">
            <a:avLst>
              <a:gd name="adj" fmla="val 10588"/>
            </a:avLst>
          </a:prstGeom>
          <a:solidFill>
            <a:schemeClr val="accent6"/>
          </a:solidFill>
          <a:ln>
            <a:solidFill>
              <a:schemeClr val="bg1">
                <a:alpha val="0"/>
              </a:schemeClr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6821424" y="2194560"/>
            <a:ext cx="1874520" cy="210312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958584" y="23317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Predicted category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 probabilities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Metrics, confusion matrix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Methodology / Workflow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umber"/>
          <p:cNvSpPr txBox="1"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188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customer CSV dataset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ber"/>
          <p:cNvSpPr txBox="1"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1188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Explore data (EDA)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ber"/>
          <p:cNvSpPr txBox="1"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188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data, fix missing values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331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ber"/>
          <p:cNvSpPr txBox="1"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Encode categorical features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3246120" y="2331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Number"/>
          <p:cNvSpPr txBox="1"/>
          <p:nvPr/>
        </p:nvSpPr>
        <p:spPr>
          <a:xfrm>
            <a:off x="3429000" y="260604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06908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Scale numerical features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035040" y="2331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Number"/>
          <p:cNvSpPr txBox="1"/>
          <p:nvPr/>
        </p:nvSpPr>
        <p:spPr>
          <a:xfrm>
            <a:off x="6217920" y="260604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into train and test sets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ber"/>
          <p:cNvSpPr txBox="1"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3474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the multinomial model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324612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Number"/>
          <p:cNvSpPr txBox="1"/>
          <p:nvPr/>
        </p:nvSpPr>
        <p:spPr>
          <a:xfrm>
            <a:off x="3429000" y="37490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3474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Evaluate: accuracy, F1, matrix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03504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Number"/>
          <p:cNvSpPr txBox="1"/>
          <p:nvPr/>
        </p:nvSpPr>
        <p:spPr>
          <a:xfrm>
            <a:off x="6217920" y="374904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3474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with Joblib and predict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Pyth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50738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LANGUAGE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Python 3.x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LaptopCo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88" y="150738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6908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FRAMEWORKS / IDE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Flask, VS Code or Jupyter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Co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708" y="150738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LIBRARIES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NumPy, Pandas, Matplotlib, Seaborn, scikit-learn, Joblib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Circle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2" name="Image 3" descr="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" y="3290468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FRONTEND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HTML, CSS, JavaScript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conCircle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7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788" y="329046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06908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DATA STORE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342900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CSV dataset and Joblib model file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IconCircle"/>
          <p:cNvSpPr/>
          <p:nvPr/>
        </p:nvSpPr>
        <p:spPr>
          <a:xfrm>
            <a:off x="6217920" y="3154680"/>
            <a:ext cx="502920" cy="502920"/>
          </a:xfrm>
          <a:prstGeom prst="ellipse">
            <a:avLst/>
          </a:prstGeom>
          <a:solidFill>
            <a:schemeClr val="accent5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2" name="Image 5" descr="Desktop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708" y="3290468"/>
            <a:ext cx="231343" cy="23134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5800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PLATFORM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21792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Windows 10/11 or Linux; no cloud needed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System Modules / Components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50738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Web forms and tabs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FileCsv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88" y="150738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Loads customer CSV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Broo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108" y="150738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84632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Impute, encode, scale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Circle"/>
          <p:cNvSpPr/>
          <p:nvPr/>
        </p:nvSpPr>
        <p:spPr>
          <a:xfrm>
            <a:off x="6949440" y="1371600"/>
            <a:ext cx="502920" cy="50292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2" name="Image 3" descr="Brai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228" y="1507388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ML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94944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Multinomial regression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57200" y="297180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conCircle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7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8" y="329046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008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4142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CSV data, .joblib model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2560320" y="297180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IconCircle"/>
          <p:cNvSpPr/>
          <p:nvPr/>
        </p:nvSpPr>
        <p:spPr>
          <a:xfrm>
            <a:off x="2743200" y="315468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2" name="Image 5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8988" y="3290468"/>
            <a:ext cx="231343" cy="23134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7432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2743200" y="4142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Category + probabilities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4663440" y="297180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IconCircle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7" name="Image 6" descr="ChartBa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108" y="3290468"/>
            <a:ext cx="231343" cy="231343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84632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4846320" y="4142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Charts and metrics</a:t>
            </a:r>
            <a:endParaRPr lang="en-US" sz="1200" dirty="0"/>
          </a:p>
        </p:txBody>
      </p:sp>
      <p:sp>
        <p:nvSpPr>
          <p:cNvPr id="40" name="Card"/>
          <p:cNvSpPr/>
          <p:nvPr/>
        </p:nvSpPr>
        <p:spPr>
          <a:xfrm>
            <a:off x="6766560" y="2971800"/>
            <a:ext cx="192024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IconCircle"/>
          <p:cNvSpPr/>
          <p:nvPr/>
        </p:nvSpPr>
        <p:spPr>
          <a:xfrm>
            <a:off x="6949440" y="3154680"/>
            <a:ext cx="502920" cy="50292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42" name="Image 7" descr="ShieldAl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228" y="3290468"/>
            <a:ext cx="231343" cy="231343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9494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6949440" y="4142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Input checks, upload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Implementation</a:t>
            </a:r>
            <a:endParaRPr lang="en-US" sz="2800" dirty="0"/>
          </a:p>
        </p:txBody>
      </p:sp>
      <p:sp>
        <p:nvSpPr>
          <p:cNvPr id="5" name="Number"/>
          <p:cNvSpPr txBox="1"/>
          <p:nvPr/>
        </p:nvSpPr>
        <p:spPr>
          <a:xfrm>
            <a:off x="457200" y="1225296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CSV with Pandas</a:t>
            </a:r>
            <a:endParaRPr lang="en-US" sz="1400" dirty="0"/>
          </a:p>
        </p:txBody>
      </p:sp>
      <p:sp>
        <p:nvSpPr>
          <p:cNvPr id="7" name="Number"/>
          <p:cNvSpPr txBox="1"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764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Impute, encode and scale features</a:t>
            </a:r>
            <a:endParaRPr lang="en-US" sz="1400" dirty="0"/>
          </a:p>
        </p:txBody>
      </p:sp>
      <p:sp>
        <p:nvSpPr>
          <p:cNvPr id="9" name="Number"/>
          <p:cNvSpPr txBox="1"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340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data 80/20 (stratified)</a:t>
            </a:r>
            <a:endParaRPr lang="en-US" sz="1400" dirty="0"/>
          </a:p>
        </p:txBody>
      </p:sp>
      <p:sp>
        <p:nvSpPr>
          <p:cNvPr id="11" name="Number"/>
          <p:cNvSpPr txBox="1"/>
          <p:nvPr/>
        </p:nvSpPr>
        <p:spPr>
          <a:xfrm>
            <a:off x="457200" y="2953512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916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the multinomial model</a:t>
            </a:r>
            <a:endParaRPr lang="en-US" sz="1400" dirty="0"/>
          </a:p>
        </p:txBody>
      </p:sp>
      <p:sp>
        <p:nvSpPr>
          <p:cNvPr id="13" name="Number"/>
          <p:cNvSpPr txBox="1"/>
          <p:nvPr/>
        </p:nvSpPr>
        <p:spPr>
          <a:xfrm>
            <a:off x="457200" y="3529584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34930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and compute metrics</a:t>
            </a:r>
            <a:endParaRPr lang="en-US" sz="1400" dirty="0"/>
          </a:p>
        </p:txBody>
      </p:sp>
      <p:sp>
        <p:nvSpPr>
          <p:cNvPr id="15" name="Number"/>
          <p:cNvSpPr txBox="1"/>
          <p:nvPr/>
        </p:nvSpPr>
        <p:spPr>
          <a:xfrm>
            <a:off x="457200" y="4105656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with Joblib; serve via Flask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0060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train_model.py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16459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solver="lbfgs", max_iter=2000)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Pipeline([("pre", pre),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("clf", clf)])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print(accuracy_score(y_test, y_pred))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joblib.dump(model, "model.joblib")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Dataset / Input Data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43000"/>
            <a:ext cx="192024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records (synthetic CSV)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60320" y="1143000"/>
            <a:ext cx="192024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5603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columns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192024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categories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766560" y="1143000"/>
            <a:ext cx="192024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~2%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57200" y="2331720"/>
            <a:ext cx="2926080" cy="2286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74320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gender, income, membership, purchase frequency, order value, annual spend, recency, spending score, discount %, product preference. Target: customer category.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3520440" y="2331720"/>
            <a:ext cx="2514600" cy="2286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7033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703320" y="27432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/ mode imputation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One-hot encoding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scaling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80/20 stratified split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172200" y="2331720"/>
            <a:ext cx="2514600" cy="2286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Bar chart of customer category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468880"/>
            <a:ext cx="2331720" cy="15270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2636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Category distribution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Algorithm / Model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class k | x )  =  exp( wk . x + bk )  /  sum over j of exp( wj . x + bj )</a:t>
            </a:r>
            <a:endParaRPr lang="en-US" sz="1900" dirty="0"/>
          </a:p>
        </p:txBody>
      </p:sp>
      <p:sp>
        <p:nvSpPr>
          <p:cNvPr id="7" name="FlowBox"/>
          <p:cNvSpPr txBox="1"/>
          <p:nvPr/>
        </p:nvSpPr>
        <p:spPr>
          <a:xfrm>
            <a:off x="457200" y="2194560"/>
            <a:ext cx="1874520" cy="6858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Input features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350008" y="2395728"/>
            <a:ext cx="21031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9" name="FlowBox"/>
          <p:cNvSpPr txBox="1"/>
          <p:nvPr/>
        </p:nvSpPr>
        <p:spPr>
          <a:xfrm>
            <a:off x="2578608" y="2194560"/>
            <a:ext cx="1874520" cy="6858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Linear score per class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471416" y="2395728"/>
            <a:ext cx="21031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1" name="FlowBox"/>
          <p:cNvSpPr txBox="1"/>
          <p:nvPr/>
        </p:nvSpPr>
        <p:spPr>
          <a:xfrm>
            <a:off x="4700016" y="2194560"/>
            <a:ext cx="1874520" cy="6858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Softmax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6592824" y="2395728"/>
            <a:ext cx="21031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3" name="FlowBox"/>
          <p:cNvSpPr txBox="1"/>
          <p:nvPr/>
        </p:nvSpPr>
        <p:spPr>
          <a:xfrm>
            <a:off x="6821424" y="2194560"/>
            <a:ext cx="1874520" cy="6858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Highest probability wins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580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was selected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 for multi-class problems, gives class probabilities, interpretable and efficient.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9204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parameters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solver = lbfgs, C = 1.0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max_iter = 2000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split 20%, seed 42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Results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1920240" cy="868680"/>
          </a:xfrm>
          <a:prstGeom prst="roundRect">
            <a:avLst>
              <a:gd name="adj" fmla="val 947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83.7%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60320" y="1097280"/>
            <a:ext cx="1920240" cy="868680"/>
          </a:xfrm>
          <a:prstGeom prst="roundRect">
            <a:avLst>
              <a:gd name="adj" fmla="val 947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56032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83.6%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63440" y="1097280"/>
            <a:ext cx="1920240" cy="868680"/>
          </a:xfrm>
          <a:prstGeom prst="roundRect">
            <a:avLst>
              <a:gd name="adj" fmla="val 947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83.7%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Recall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766560" y="1097280"/>
            <a:ext cx="1920240" cy="868680"/>
          </a:xfrm>
          <a:prstGeom prst="roundRect">
            <a:avLst>
              <a:gd name="adj" fmla="val 947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76656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83.6%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F1-score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57200" y="2103120"/>
            <a:ext cx="4663440" cy="2560320"/>
          </a:xfrm>
          <a:prstGeom prst="roundRect">
            <a:avLst>
              <a:gd name="adj" fmla="val 321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8" name="Chart 0" descr=""/>
          <p:cNvGraphicFramePr/>
          <p:nvPr/>
        </p:nvGraphicFramePr>
        <p:xfrm>
          <a:off x="548640" y="2148840"/>
          <a:ext cx="44805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"/>
          <p:cNvSpPr/>
          <p:nvPr/>
        </p:nvSpPr>
        <p:spPr>
          <a:xfrm>
            <a:off x="5303520" y="2103120"/>
            <a:ext cx="3383280" cy="2560320"/>
          </a:xfrm>
          <a:prstGeom prst="roundRect">
            <a:avLst>
              <a:gd name="adj" fmla="val 321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Confusion matrix of the model on the test se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40680" y="2194560"/>
            <a:ext cx="310896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Screenshots / Demo</a:t>
            </a:r>
            <a:endParaRPr lang="en-US" sz="2800" dirty="0"/>
          </a:p>
        </p:txBody>
      </p:sp>
      <p:sp>
        <p:nvSpPr>
          <p:cNvPr id="5" name="Frame"/>
          <p:cNvSpPr/>
          <p:nvPr/>
        </p:nvSpPr>
        <p:spPr>
          <a:xfrm>
            <a:off x="457200" y="1097280"/>
            <a:ext cx="2468880" cy="1591056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dict: category + probabilitie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2377440" cy="1499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715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Predict: category + probabilities</a:t>
            </a:r>
            <a:endParaRPr lang="en-US" sz="1100" dirty="0"/>
          </a:p>
        </p:txBody>
      </p:sp>
      <p:sp>
        <p:nvSpPr>
          <p:cNvPr id="8" name="Frame"/>
          <p:cNvSpPr/>
          <p:nvPr/>
        </p:nvSpPr>
        <p:spPr>
          <a:xfrm>
            <a:off x="3063240" y="1097280"/>
            <a:ext cx="2468880" cy="1591056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Batch CSV uploa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143000"/>
            <a:ext cx="2377440" cy="149961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63240" y="2715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Batch CSV upload</a:t>
            </a:r>
            <a:endParaRPr lang="en-US" sz="1100" dirty="0"/>
          </a:p>
        </p:txBody>
      </p:sp>
      <p:sp>
        <p:nvSpPr>
          <p:cNvPr id="11" name="Frame"/>
          <p:cNvSpPr/>
          <p:nvPr/>
        </p:nvSpPr>
        <p:spPr>
          <a:xfrm>
            <a:off x="457200" y="2926080"/>
            <a:ext cx="2468880" cy="1591056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Model dashboard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71800"/>
            <a:ext cx="2377440" cy="149961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4544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 dashboard</a:t>
            </a:r>
            <a:endParaRPr lang="en-US" sz="1100" dirty="0"/>
          </a:p>
        </p:txBody>
      </p:sp>
      <p:sp>
        <p:nvSpPr>
          <p:cNvPr id="14" name="Frame"/>
          <p:cNvSpPr/>
          <p:nvPr/>
        </p:nvSpPr>
        <p:spPr>
          <a:xfrm>
            <a:off x="3063240" y="2926080"/>
            <a:ext cx="2468880" cy="1591056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Dataset explorer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971800"/>
            <a:ext cx="2377440" cy="149961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063240" y="4544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Dataset explorer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5806440" y="1097280"/>
            <a:ext cx="2880360" cy="356616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1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</a:t>
            </a:r>
            <a:endParaRPr lang="en-US" sz="1800" dirty="0"/>
          </a:p>
        </p:txBody>
      </p:sp>
      <p:sp>
        <p:nvSpPr>
          <p:cNvPr id="19" name="Number"/>
          <p:cNvSpPr txBox="1"/>
          <p:nvPr/>
        </p:nvSpPr>
        <p:spPr>
          <a:xfrm>
            <a:off x="6035040" y="1783080"/>
            <a:ext cx="365760" cy="3657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53796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Enter details or load a sample</a:t>
            </a:r>
            <a:endParaRPr lang="en-US" sz="1400" dirty="0"/>
          </a:p>
        </p:txBody>
      </p:sp>
      <p:sp>
        <p:nvSpPr>
          <p:cNvPr id="21" name="Number"/>
          <p:cNvSpPr txBox="1"/>
          <p:nvPr/>
        </p:nvSpPr>
        <p:spPr>
          <a:xfrm>
            <a:off x="6035040" y="2514600"/>
            <a:ext cx="365760" cy="3657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537960" y="2468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Click Predict category</a:t>
            </a:r>
            <a:endParaRPr lang="en-US" sz="1400" dirty="0"/>
          </a:p>
        </p:txBody>
      </p:sp>
      <p:sp>
        <p:nvSpPr>
          <p:cNvPr id="23" name="Number"/>
          <p:cNvSpPr txBox="1"/>
          <p:nvPr/>
        </p:nvSpPr>
        <p:spPr>
          <a:xfrm>
            <a:off x="6035040" y="3246120"/>
            <a:ext cx="365760" cy="3657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537960" y="3200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Upload a CSV for batch results</a:t>
            </a:r>
            <a:endParaRPr lang="en-US" sz="1400" dirty="0"/>
          </a:p>
        </p:txBody>
      </p:sp>
      <p:sp>
        <p:nvSpPr>
          <p:cNvPr id="25" name="Number"/>
          <p:cNvSpPr txBox="1"/>
          <p:nvPr/>
        </p:nvSpPr>
        <p:spPr>
          <a:xfrm>
            <a:off x="6035040" y="3977640"/>
            <a:ext cx="365760" cy="3657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537960" y="3931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the dashboard for metrics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Advantages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Ta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5654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371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 in one model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Predicts all four categories at once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53" y="1565453"/>
            <a:ext cx="252374" cy="25237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06240" y="1371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Coefficients show feature influence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3" y="156545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1371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and scalable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Quick training and prediction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Circle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6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2" name="Image 3" descr="Balance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348533"/>
            <a:ext cx="252374" cy="25237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probabilities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8580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Confidence for every decision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conCircle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7" name="Image 4" descr="Cog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173" y="3348533"/>
            <a:ext cx="252374" cy="25237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2356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and consistent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89204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Replaces slow, subjective manual grouping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84632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35608"/>
            <a:ext cx="502920" cy="5029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Bullhor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571396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Targeted marketing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Personalised campaigns and recommendations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331720"/>
            <a:ext cx="484632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Circle"/>
          <p:cNvSpPr/>
          <p:nvPr/>
        </p:nvSpPr>
        <p:spPr>
          <a:xfrm>
            <a:off x="685800" y="2578608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1" name="Image 1" descr="Handshak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" y="2714396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relationship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Retention and service by category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74720"/>
            <a:ext cx="4846320" cy="100584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Circle"/>
          <p:cNvSpPr/>
          <p:nvPr/>
        </p:nvSpPr>
        <p:spPr>
          <a:xfrm>
            <a:off x="685800" y="3721608"/>
            <a:ext cx="502920" cy="50292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5" name="Image 2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" y="3857396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Sales forecasting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Resource allocation per segment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571"/>
            </a:avLst>
          </a:prstGeom>
          <a:solidFill>
            <a:schemeClr val="tx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7150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5B4FC"/>
                </a:solidFill>
              </a:rPr>
              <a:t>TARGET USERS / INDUSTRIES</a:t>
            </a:r>
            <a:endParaRPr lang="en-US" sz="1000" dirty="0"/>
          </a:p>
        </p:txBody>
      </p:sp>
      <p:sp>
        <p:nvSpPr>
          <p:cNvPr id="19" name="IndustryPill"/>
          <p:cNvSpPr txBox="1"/>
          <p:nvPr/>
        </p:nvSpPr>
        <p:spPr>
          <a:xfrm>
            <a:off x="5715000" y="1691640"/>
            <a:ext cx="274320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20" name="IndustryPill"/>
          <p:cNvSpPr txBox="1"/>
          <p:nvPr/>
        </p:nvSpPr>
        <p:spPr>
          <a:xfrm>
            <a:off x="5715000" y="2258568"/>
            <a:ext cx="274320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Retail</a:t>
            </a:r>
            <a:endParaRPr lang="en-US" sz="1400" dirty="0"/>
          </a:p>
        </p:txBody>
      </p:sp>
      <p:sp>
        <p:nvSpPr>
          <p:cNvPr id="21" name="IndustryPill"/>
          <p:cNvSpPr txBox="1"/>
          <p:nvPr/>
        </p:nvSpPr>
        <p:spPr>
          <a:xfrm>
            <a:off x="5715000" y="2825496"/>
            <a:ext cx="2743200" cy="4572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Banking</a:t>
            </a:r>
            <a:endParaRPr lang="en-US" sz="1400" dirty="0"/>
          </a:p>
        </p:txBody>
      </p:sp>
      <p:sp>
        <p:nvSpPr>
          <p:cNvPr id="22" name="IndustryPill"/>
          <p:cNvSpPr txBox="1"/>
          <p:nvPr/>
        </p:nvSpPr>
        <p:spPr>
          <a:xfrm>
            <a:off x="5715000" y="3392424"/>
            <a:ext cx="2743200" cy="457200"/>
          </a:xfrm>
          <a:prstGeom prst="roundRect">
            <a:avLst>
              <a:gd name="adj" fmla="val 40000"/>
            </a:avLst>
          </a:prstGeom>
          <a:solidFill>
            <a:schemeClr val="accent6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Telecom</a:t>
            </a:r>
            <a:endParaRPr lang="en-US" sz="1400" dirty="0"/>
          </a:p>
        </p:txBody>
      </p:sp>
      <p:sp>
        <p:nvSpPr>
          <p:cNvPr id="23" name="IndustryPill"/>
          <p:cNvSpPr txBox="1"/>
          <p:nvPr/>
        </p:nvSpPr>
        <p:spPr>
          <a:xfrm>
            <a:off x="5715000" y="3959352"/>
            <a:ext cx="2743200" cy="45720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Marketing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55310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assumption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Assumes a linear relationship between features and class log-odds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ExclamationTriang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28" y="155310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dependent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Performance depends on data quality and size; results here use synthetic data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ExclamationTriang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" y="333618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patterns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May underperform on non-linear patterns and imbalanced classes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Circle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2" name="Image 3" descr="ExclamationTriang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828" y="3336188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data needed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489204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Requires predefined, labelled customer categories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Image 0" descr="Roc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59014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models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5176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Forest, SVM, XGBoost, neural networks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selection, hyperparameter tuning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 class imbalance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Circle"/>
          <p:cNvSpPr/>
          <p:nvPr/>
        </p:nvSpPr>
        <p:spPr>
          <a:xfrm>
            <a:off x="3474720" y="1417320"/>
            <a:ext cx="640080" cy="64008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1" descr="Deskto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59014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features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65176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Streamlit / Flask dashboards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Real-time prediction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authentication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51760" cy="3429000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Circle"/>
          <p:cNvSpPr/>
          <p:nvPr/>
        </p:nvSpPr>
        <p:spPr>
          <a:xfrm>
            <a:off x="6263640" y="1417320"/>
            <a:ext cx="640080" cy="640080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Image 2" descr="Clou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62" y="159014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and scale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65176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API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E-commerce platform integration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 real-world datasets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457200" y="329184"/>
            <a:ext cx="530352" cy="530352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2743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IconCircle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6" name="Image 0" descr="Troph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151973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188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</a:rPr>
              <a:t>ACHIEVED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multinomial logistic regression model classifies customers into four categories from demographic and purchasing data.</a:t>
            </a:r>
            <a:endParaRPr lang="en-US" sz="1400" dirty="0"/>
          </a:p>
        </p:txBody>
      </p:sp>
      <p:sp>
        <p:nvSpPr>
          <p:cNvPr id="8" name="IconCircle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9" name="Image 1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2662733"/>
            <a:ext cx="252374" cy="2523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331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</a:rPr>
              <a:t>KEY OUTCOME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efficient, interpretable and reliable solution: 83.7% test accuracy.</a:t>
            </a:r>
            <a:endParaRPr lang="en-US" sz="1400" dirty="0"/>
          </a:p>
        </p:txBody>
      </p:sp>
      <p:sp>
        <p:nvSpPr>
          <p:cNvPr id="11" name="IconCircle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Image 2" descr="Bullhor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3805733"/>
            <a:ext cx="252374" cy="25237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3474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</a:rPr>
              <a:t>CONTRIBUTION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Supports data-driven targeting, better satisfaction and improved e-commerce sales.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943600" y="1188720"/>
            <a:ext cx="2743200" cy="3429000"/>
          </a:xfrm>
          <a:prstGeom prst="roundRect">
            <a:avLst>
              <a:gd name="adj" fmla="val 3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9436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6" name="Text 10"/>
          <p:cNvSpPr txBox="1"/>
          <p:nvPr/>
        </p:nvSpPr>
        <p:spPr>
          <a:xfrm>
            <a:off x="594360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943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K. Sathwika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A. Sanjana Reddy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Insight">
  <a:themeElements>
    <a:clrScheme name="Customer Insight">
      <a:dk1>
        <a:srgbClr val="1E1B4B"/>
      </a:dk1>
      <a:lt1>
        <a:srgbClr val="FFFFFF"/>
      </a:lt1>
      <a:dk2>
        <a:srgbClr val="312E81"/>
      </a:dk2>
      <a:lt2>
        <a:srgbClr val="F5F6FF"/>
      </a:lt2>
      <a:accent1>
        <a:srgbClr val="4F46E5"/>
      </a:accent1>
      <a:accent2>
        <a:srgbClr val="7C3AED"/>
      </a:accent2>
      <a:accent3>
        <a:srgbClr val="0EA5E9"/>
      </a:accent3>
      <a:accent4>
        <a:srgbClr val="F59E0B"/>
      </a:accent4>
      <a:accent5>
        <a:srgbClr val="EF4444"/>
      </a:accent5>
      <a:accent6>
        <a:srgbClr val="10B981"/>
      </a:accent6>
      <a:hlink>
        <a:srgbClr val="4F46E5"/>
      </a:hlink>
      <a:folHlink>
        <a:srgbClr val="7C3AED"/>
      </a:folHlink>
    </a:clrScheme>
    <a:fontScheme name="Customer Ins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Multi-Class Customer Category Prediction</dc:title>
  <dc:subject>PptxGenJS Presentation</dc:subject>
  <dc:creator>K. Sathwika, A. Sanjana Reddy</dc:creator>
  <cp:lastModifiedBy>K. Sathwika, A. Sanjana Reddy</cp:lastModifiedBy>
  <cp:revision>1</cp:revision>
  <dcterms:created xsi:type="dcterms:W3CDTF">2026-10-14T05:08:17Z</dcterms:created>
  <dcterms:modified xsi:type="dcterms:W3CDTF">2026-10-14T05:08:17Z</dcterms:modified>
</cp:coreProperties>
</file>